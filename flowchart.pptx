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2"/>
    <p:restoredTop sz="94668"/>
  </p:normalViewPr>
  <p:slideViewPr>
    <p:cSldViewPr snapToGrid="0">
      <p:cViewPr varScale="1">
        <p:scale>
          <a:sx n="69" d="100"/>
          <a:sy n="69" d="100"/>
        </p:scale>
        <p:origin x="224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4F17-556B-04B7-AAA0-383BA91E0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A657B-BCB4-35DA-917F-65B010287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4677E-01C8-7053-BDD9-22117426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E801-2C0C-68FF-BDEC-1848E57C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202E8-1DAD-A17C-C377-21E2137C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92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012A-C0F7-E586-6AEC-249EA2EB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47B88-FAA6-824B-04C3-0E10DF6F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E35E6-5E15-999D-B7B5-F976D451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CB94-47BB-4C59-B8E2-1592E45B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27BAE-8575-9F98-0249-870CA15D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3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DC61-6958-46AA-211A-10643022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6D9B4-9838-DE5D-225D-51E94C8B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D3A4-0901-342F-054C-EAE0F2D7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7C82E-C798-CC2B-63A1-C4200400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23CB7-C3F5-18CB-8837-C7C95C0C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22C5-D32B-2609-E65D-3609E37A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275D9-06F9-4B63-1A4F-182BCA36D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7D25B-CEFE-098E-4185-CCA00399E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6BB71-2EC8-76A6-7834-C14CA6FF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E1412-E652-AC42-37F1-9EEB5B55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232CE-7E4A-CAC3-E20E-DD70BEED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3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A4CC-B319-2E0C-3D4A-BB89BCA8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E296E-2FB1-B910-0A8A-2A65B6766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8601C-7705-BA9D-5403-2FF4A9059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58D0F-0421-CCAB-221D-41D5483B4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1D848-B28A-11DA-A7DF-31E22CFF9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31B97F-76F5-54B5-1110-4EE3657A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B9EE2-8421-8AD3-0336-986A1A208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0A5C9-DDC7-1E08-3530-51A567F8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3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08D5-7700-5AED-2F96-4C470573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CB467-7122-C262-B39C-9FEB628B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B94A1-EAA1-02E2-F31F-06E22747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91734-43C3-E65D-EDFA-40CA723F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1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B000C-D38A-F35F-4901-593D07FB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C56FC-3ABF-8F56-44A9-3B9DED5C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39741-866D-11B6-5CCB-0845DD07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5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3264-A9EC-899A-8346-1947D1CA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C35DB-0796-726F-E0C4-20FFAF71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631D3-6235-9426-B4B0-AA85C65E4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2752C-9F82-B00E-7027-F1C51CA4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C86E4-0F5F-48EF-3264-23FB439C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BED1D-F80D-EB90-CE2B-BCC58513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3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5539-9ECB-CF0E-3659-2AD125B5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A86128-0803-0BCF-A82F-7C236C6AB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C3468-2676-8ADD-D71D-96C89BF07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FB715-6F41-1048-E962-D9539800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4285B-8A78-D128-436B-4DF03D78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5EAA8-E604-3042-CC41-BE12E6AE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9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768F-9326-C442-FA9F-E2AB3335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7EB83-020A-C128-C826-29B34834F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6C08C-64D9-18D2-D6D5-F7708892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063F-CEAC-6CE4-D16C-1929BE5B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B3F82-145D-8A21-05BE-9158C50E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60549-319F-814F-A0D7-E2144FDCE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FE348-DEBC-4B5E-93B0-2C2FF16F9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0B336-52F8-C615-FEA4-230D373B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AEA5-BFF6-AE9C-9689-8B8C508F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6FD0-B834-1E86-F3F5-057C5A9D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01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4AA8D-B46F-0A82-435F-3009D25D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081B9-E509-CBD1-3FB4-53331A553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7227D-8DBE-3975-B792-CE9371D1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08B19-B713-B844-A98D-953EBEF88FD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B6051-4208-40F9-C12C-1899F1F50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7E780-674C-D2D1-E27A-F2A4D7E7B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0B339-CF10-E943-ACA3-F4C8BB2F5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D827CB8-F2AB-0A1D-9CD8-90553FB4F192}"/>
              </a:ext>
            </a:extLst>
          </p:cNvPr>
          <p:cNvSpPr txBox="1"/>
          <p:nvPr/>
        </p:nvSpPr>
        <p:spPr>
          <a:xfrm>
            <a:off x="8702566" y="690594"/>
            <a:ext cx="2238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33 = 27 from </a:t>
            </a:r>
            <a:r>
              <a:rPr lang="en-US" dirty="0" err="1"/>
              <a:t>bev</a:t>
            </a:r>
            <a:r>
              <a:rPr lang="en-US" dirty="0"/>
              <a:t>  + 5 from manual spot checks from </a:t>
            </a:r>
            <a:r>
              <a:rPr lang="en-US" dirty="0" err="1"/>
              <a:t>chad</a:t>
            </a:r>
            <a:endParaRPr lang="en-US" dirty="0"/>
          </a:p>
          <a:p>
            <a:r>
              <a:rPr lang="en-US" dirty="0"/>
              <a:t>1646 = found by the automated parser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5942DB-2FD3-C912-0361-EAF132557B1B}"/>
              </a:ext>
            </a:extLst>
          </p:cNvPr>
          <p:cNvGrpSpPr/>
          <p:nvPr/>
        </p:nvGrpSpPr>
        <p:grpSpPr>
          <a:xfrm>
            <a:off x="616669" y="485321"/>
            <a:ext cx="7153839" cy="5474137"/>
            <a:chOff x="616669" y="485321"/>
            <a:chExt cx="7153839" cy="5474137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84B59F81-1FD5-253F-A6B0-E8AEC81CD476}"/>
                </a:ext>
              </a:extLst>
            </p:cNvPr>
            <p:cNvCxnSpPr>
              <a:cxnSpLocks/>
              <a:stCxn id="3" idx="2"/>
              <a:endCxn id="5" idx="0"/>
            </p:cNvCxnSpPr>
            <p:nvPr/>
          </p:nvCxnSpPr>
          <p:spPr>
            <a:xfrm rot="16200000" flipH="1">
              <a:off x="2362044" y="329860"/>
              <a:ext cx="558745" cy="202621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09188D43-62B9-E84C-72E0-EFC73776A529}"/>
                </a:ext>
              </a:extLst>
            </p:cNvPr>
            <p:cNvCxnSpPr>
              <a:cxnSpLocks/>
              <a:stCxn id="2" idx="2"/>
              <a:endCxn id="5" idx="0"/>
            </p:cNvCxnSpPr>
            <p:nvPr/>
          </p:nvCxnSpPr>
          <p:spPr>
            <a:xfrm rot="5400000">
              <a:off x="4636213" y="81904"/>
              <a:ext cx="558745" cy="252212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BE63062-2A42-2FA8-EFE5-E6783575D5E2}"/>
                </a:ext>
              </a:extLst>
            </p:cNvPr>
            <p:cNvCxnSpPr>
              <a:cxnSpLocks/>
              <a:stCxn id="5" idx="2"/>
              <a:endCxn id="38" idx="0"/>
            </p:cNvCxnSpPr>
            <p:nvPr/>
          </p:nvCxnSpPr>
          <p:spPr>
            <a:xfrm flipH="1">
              <a:off x="3654519" y="2000885"/>
              <a:ext cx="3" cy="1672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17F0049-5170-DD57-A6A4-042CD27C59BE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3654518" y="3180056"/>
              <a:ext cx="3" cy="1892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AE35596-8609-8E7F-BD1E-A22FFD8B059C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3654521" y="3747875"/>
              <a:ext cx="0" cy="2690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AC5C17C-C2FD-566A-FFE2-D1DB01C0D7D0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3654519" y="4395463"/>
              <a:ext cx="2" cy="4115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B79F8E2-8192-4343-1848-84D728B9582E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3654519" y="5185564"/>
              <a:ext cx="0" cy="3953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ECBDB331-3C1B-6F45-82FA-C44E53ABD58A}"/>
                </a:ext>
              </a:extLst>
            </p:cNvPr>
            <p:cNvCxnSpPr>
              <a:cxnSpLocks/>
              <a:stCxn id="21" idx="2"/>
              <a:endCxn id="5" idx="0"/>
            </p:cNvCxnSpPr>
            <p:nvPr/>
          </p:nvCxnSpPr>
          <p:spPr>
            <a:xfrm rot="5400000">
              <a:off x="3412864" y="1307930"/>
              <a:ext cx="556068" cy="7275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48DA8C8-9A28-F5FA-7B95-CE898384FA82}"/>
                </a:ext>
              </a:extLst>
            </p:cNvPr>
            <p:cNvGrpSpPr/>
            <p:nvPr/>
          </p:nvGrpSpPr>
          <p:grpSpPr>
            <a:xfrm>
              <a:off x="616669" y="485321"/>
              <a:ext cx="7153839" cy="5474137"/>
              <a:chOff x="448717" y="690593"/>
              <a:chExt cx="7153839" cy="547413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F60FA40-DC3B-A313-9CB0-1DDCE908B259}"/>
                  </a:ext>
                </a:extLst>
              </p:cNvPr>
              <p:cNvSpPr/>
              <p:nvPr/>
            </p:nvSpPr>
            <p:spPr>
              <a:xfrm>
                <a:off x="2547680" y="693270"/>
                <a:ext cx="2023281" cy="57827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 state MVP = 22</a:t>
                </a: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32E57668-AB90-ED32-217D-5BC98E209B96}"/>
                  </a:ext>
                </a:extLst>
              </p:cNvPr>
              <p:cNvGrpSpPr/>
              <p:nvPr/>
            </p:nvGrpSpPr>
            <p:grpSpPr>
              <a:xfrm>
                <a:off x="448717" y="690593"/>
                <a:ext cx="7153839" cy="5474137"/>
                <a:chOff x="430056" y="693951"/>
                <a:chExt cx="7153839" cy="5474137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ED5F9E67-53C3-1B1A-1C13-1354B9A970F1}"/>
                    </a:ext>
                  </a:extLst>
                </p:cNvPr>
                <p:cNvGrpSpPr/>
                <p:nvPr/>
              </p:nvGrpSpPr>
              <p:grpSpPr>
                <a:xfrm>
                  <a:off x="430056" y="693951"/>
                  <a:ext cx="7153839" cy="5474137"/>
                  <a:chOff x="374072" y="690594"/>
                  <a:chExt cx="7153839" cy="5474137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BD3241F5-733F-6261-8FA3-71FAC1B61CFC}"/>
                      </a:ext>
                    </a:extLst>
                  </p:cNvPr>
                  <p:cNvGrpSpPr/>
                  <p:nvPr/>
                </p:nvGrpSpPr>
                <p:grpSpPr>
                  <a:xfrm>
                    <a:off x="1705950" y="690594"/>
                    <a:ext cx="5821961" cy="5474137"/>
                    <a:chOff x="1528545" y="167094"/>
                    <a:chExt cx="5821961" cy="5474137"/>
                  </a:xfrm>
                </p:grpSpPr>
                <p:sp>
                  <p:nvSpPr>
                    <p:cNvPr id="2" name="Rectangle 1">
                      <a:extLst>
                        <a:ext uri="{FF2B5EF4-FFF2-40B4-BE49-F238E27FC236}">
                          <a16:creationId xmlns:a16="http://schemas.microsoft.com/office/drawing/2014/main" id="{CE1297A3-588A-D78F-BDA5-17F30EABD5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6702" y="167094"/>
                      <a:ext cx="2419885" cy="57827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 automated = 1,250</a:t>
                      </a:r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F9ED10F8-4A02-A8D0-2B74-1011BD57BD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8549" y="1304112"/>
                      <a:ext cx="3411941" cy="378546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 total = 1,294</a:t>
                      </a:r>
                    </a:p>
                  </p:txBody>
                </p:sp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B24726C6-BE83-CB8B-6DE3-66F4126315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8545" y="2483283"/>
                      <a:ext cx="3411942" cy="378546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 in Massachusetts = 444 </a:t>
                      </a:r>
                    </a:p>
                  </p:txBody>
                </p:sp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A9FEE83D-5072-915B-E9E8-AAE3E817B9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5522" y="1942165"/>
                      <a:ext cx="188455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 </a:t>
                      </a:r>
                    </a:p>
                  </p:txBody>
                </p:sp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16D982B3-E803-8629-732D-758F5C72B9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8549" y="3051102"/>
                      <a:ext cx="3411940" cy="378546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 in Boston Inner Core = 316 </a:t>
                      </a:r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FBD9E85D-B692-3145-19B8-7107819692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8549" y="3698690"/>
                      <a:ext cx="3411940" cy="378546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 has “climate” in text = 278</a:t>
                      </a:r>
                    </a:p>
                  </p:txBody>
                </p:sp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AEC0370F-3B6E-29FE-D9D1-18A84FD5A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8547" y="4488791"/>
                      <a:ext cx="3411940" cy="378546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 has “community” in text = 269 </a:t>
                      </a:r>
                    </a:p>
                  </p:txBody>
                </p:sp>
                <p:sp>
                  <p:nvSpPr>
                    <p:cNvPr id="12" name="Rectangle 11">
                      <a:extLst>
                        <a:ext uri="{FF2B5EF4-FFF2-40B4-BE49-F238E27FC236}">
                          <a16:creationId xmlns:a16="http://schemas.microsoft.com/office/drawing/2014/main" id="{75D3E5D0-8962-4908-012F-CED05A44B2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8547" y="5262685"/>
                      <a:ext cx="3411940" cy="378546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 pass manual checks = 114</a:t>
                      </a:r>
                    </a:p>
                  </p:txBody>
                </p:sp>
                <p:sp>
                  <p:nvSpPr>
                    <p:cNvPr id="13" name="Right Brace 12">
                      <a:extLst>
                        <a:ext uri="{FF2B5EF4-FFF2-40B4-BE49-F238E27FC236}">
                          <a16:creationId xmlns:a16="http://schemas.microsoft.com/office/drawing/2014/main" id="{60FA181B-7222-D8E2-DC73-512E60CA08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39664" y="1942165"/>
                      <a:ext cx="246292" cy="3095379"/>
                    </a:xfrm>
                    <a:prstGeom prst="rightBrac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92E38310-6741-5A47-855D-C623BBD975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08059" y="3051102"/>
                      <a:ext cx="1842447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i="1" dirty="0"/>
                        <a:t>Checked with automated text parsing</a:t>
                      </a:r>
                    </a:p>
                  </p:txBody>
                </p:sp>
              </p:grpSp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1790A42F-05FF-2657-02DD-486A5A6C8E7C}"/>
                      </a:ext>
                    </a:extLst>
                  </p:cNvPr>
                  <p:cNvSpPr/>
                  <p:nvPr/>
                </p:nvSpPr>
                <p:spPr>
                  <a:xfrm>
                    <a:off x="374072" y="690594"/>
                    <a:ext cx="2023281" cy="578273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N manual = 22</a:t>
                    </a:r>
                  </a:p>
                </p:txBody>
              </p:sp>
            </p:grp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FE4E043-7575-3A76-7567-0D63403242B6}"/>
                    </a:ext>
                  </a:extLst>
                </p:cNvPr>
                <p:cNvSpPr/>
                <p:nvPr/>
              </p:nvSpPr>
              <p:spPr>
                <a:xfrm>
                  <a:off x="1761935" y="2376745"/>
                  <a:ext cx="3411941" cy="37854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 not duplicated = 955</a:t>
                  </a:r>
                </a:p>
              </p:txBody>
            </p:sp>
          </p:grp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84BE7C9-9D2E-ADDE-400E-807E0C0AD751}"/>
                </a:ext>
              </a:extLst>
            </p:cNvPr>
            <p:cNvCxnSpPr>
              <a:cxnSpLocks/>
              <a:stCxn id="38" idx="2"/>
              <a:endCxn id="6" idx="0"/>
            </p:cNvCxnSpPr>
            <p:nvPr/>
          </p:nvCxnSpPr>
          <p:spPr>
            <a:xfrm flipH="1">
              <a:off x="3654518" y="2546661"/>
              <a:ext cx="1" cy="2548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1003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84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Milando, Chad</dc:creator>
  <cp:lastModifiedBy>Milando, Chad</cp:lastModifiedBy>
  <cp:revision>12</cp:revision>
  <dcterms:created xsi:type="dcterms:W3CDTF">2024-10-31T19:50:41Z</dcterms:created>
  <dcterms:modified xsi:type="dcterms:W3CDTF">2025-12-09T16:25:18Z</dcterms:modified>
</cp:coreProperties>
</file>