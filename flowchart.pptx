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762"/>
    <p:restoredTop sz="94668"/>
  </p:normalViewPr>
  <p:slideViewPr>
    <p:cSldViewPr snapToGrid="0">
      <p:cViewPr>
        <p:scale>
          <a:sx n="89" d="100"/>
          <a:sy n="89" d="100"/>
        </p:scale>
        <p:origin x="-16" y="7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D4F17-556B-04B7-AAA0-383BA91E03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C6A657B-BCB4-35DA-917F-65B0102875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74677E-01C8-7053-BDD9-221174262F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08B19-B713-B844-A98D-953EBEF88FDF}" type="datetimeFigureOut">
              <a:rPr lang="en-US" smtClean="0"/>
              <a:t>1/14/26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12E801-2C0C-68FF-BDEC-1848E57C97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8202E8-1DAD-A17C-C377-21E2137C38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80B339-CF10-E943-ACA3-F4C8BB2F5C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9926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99012A-C0F7-E586-6AEC-249EA2EB5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447B88-FAA6-824B-04C3-0E10DF6F54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2E35E6-5E15-999D-B7B5-F976D45158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08B19-B713-B844-A98D-953EBEF88FDF}" type="datetimeFigureOut">
              <a:rPr lang="en-US" smtClean="0"/>
              <a:t>1/14/26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4ACB94-47BB-4C59-B8E2-1592E45B8A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327BAE-8575-9F98-0249-870CA15DD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80B339-CF10-E943-ACA3-F4C8BB2F5C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3395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45DC61-6958-46AA-211A-1064302209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06D9B4-9838-DE5D-225D-51E94C8B49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ECD3A4-0901-342F-054C-EAE0F2D777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08B19-B713-B844-A98D-953EBEF88FDF}" type="datetimeFigureOut">
              <a:rPr lang="en-US" smtClean="0"/>
              <a:t>1/14/26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B7C82E-C798-CC2B-63A1-C420040040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C23CB7-C3F5-18CB-8837-C7C95C0C4C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80B339-CF10-E943-ACA3-F4C8BB2F5C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5368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C622C5-D32B-2609-E65D-3609E37A7E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C275D9-06F9-4B63-1A4F-182BCA36DE0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097D25B-CEFE-098E-4185-CCA00399E7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B6BB71-2EC8-76A6-7834-C14CA6FF7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08B19-B713-B844-A98D-953EBEF88FDF}" type="datetimeFigureOut">
              <a:rPr lang="en-US" smtClean="0"/>
              <a:t>1/14/26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0E1412-E652-AC42-37F1-9EEB5B551E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28232CE-7E4A-CAC3-E20E-DD70BEED35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80B339-CF10-E943-ACA3-F4C8BB2F5C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61350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50A4CC-B319-2E0C-3D4A-BB89BCA818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DE296E-2FB1-B910-0A8A-2A65B67663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B58601C-7705-BA9D-5403-2FF4A90593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B58D0F-0421-CCAB-221D-41D5483B40E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A71D848-B28A-11DA-A7DF-31E22CFF90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231B97F-76F5-54B5-1110-4EE3657A39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08B19-B713-B844-A98D-953EBEF88FDF}" type="datetimeFigureOut">
              <a:rPr lang="en-US" smtClean="0"/>
              <a:t>1/14/26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E0B9EE2-8421-8AD3-0336-986A1A208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860A5C9-DDC7-1E08-3530-51A567F87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80B339-CF10-E943-ACA3-F4C8BB2F5C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31374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FF08D5-7700-5AED-2F96-4C47057372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7CB467-7122-C262-B39C-9FEB628BF9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08B19-B713-B844-A98D-953EBEF88FDF}" type="datetimeFigureOut">
              <a:rPr lang="en-US" smtClean="0"/>
              <a:t>1/14/26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BB94A1-EAA1-02E2-F31F-06E2274788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4F91734-43C3-E65D-EDFA-40CA723F79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80B339-CF10-E943-ACA3-F4C8BB2F5C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09165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CDB000C-D38A-F35F-4901-593D07FBF6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08B19-B713-B844-A98D-953EBEF88FDF}" type="datetimeFigureOut">
              <a:rPr lang="en-US" smtClean="0"/>
              <a:t>1/14/26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AC56FC-3ABF-8F56-44A9-3B9DED5CA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239741-866D-11B6-5CCB-0845DD070C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80B339-CF10-E943-ACA3-F4C8BB2F5C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22523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5A3264-A9EC-899A-8346-1947D1CA48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7C35DB-0796-726F-E0C4-20FFAF7184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D631D3-6235-9426-B4B0-AA85C65E40D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62752C-9F82-B00E-7027-F1C51CA464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08B19-B713-B844-A98D-953EBEF88FDF}" type="datetimeFigureOut">
              <a:rPr lang="en-US" smtClean="0"/>
              <a:t>1/14/26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3C86E4-0F5F-48EF-3264-23FB439C4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6BED1D-F80D-EB90-CE2B-BCC5851364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80B339-CF10-E943-ACA3-F4C8BB2F5C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62354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925539-9ECB-CF0E-3659-2AD125B534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5A86128-0803-0BCF-A82F-7C236C6AB91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3C3468-2676-8ADD-D71D-96C89BF070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6BFB715-6F41-1048-E962-D953980090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08B19-B713-B844-A98D-953EBEF88FDF}" type="datetimeFigureOut">
              <a:rPr lang="en-US" smtClean="0"/>
              <a:t>1/14/26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44285B-8A78-D128-436B-4DF03D78FB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C5EAA8-E604-3042-CC41-BE12E6AE8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80B339-CF10-E943-ACA3-F4C8BB2F5C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6989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8E768F-9326-C442-FA9F-E2AB333519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077EB83-020A-C128-C826-29B34834F5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D6C08C-64D9-18D2-D6D5-F7708892AA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08B19-B713-B844-A98D-953EBEF88FDF}" type="datetimeFigureOut">
              <a:rPr lang="en-US" smtClean="0"/>
              <a:t>1/14/26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80063F-CEAC-6CE4-D16C-1929BE5BF6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CB3F82-145D-8A21-05BE-9158C50ECC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80B339-CF10-E943-ACA3-F4C8BB2F5C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7700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3760549-319F-814F-A0D7-E2144FDCE41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6FE348-DEBC-4B5E-93B0-2C2FF16F9D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A0B336-52F8-C615-FEA4-230D373BC5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08B19-B713-B844-A98D-953EBEF88FDF}" type="datetimeFigureOut">
              <a:rPr lang="en-US" smtClean="0"/>
              <a:t>1/14/26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7BAEA5-BFF6-AE9C-9689-8B8C508FC2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E86FD0-B834-1E86-F3F5-057C5A9DFF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80B339-CF10-E943-ACA3-F4C8BB2F5C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28016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B54AA8D-B46F-0A82-435F-3009D25D7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1081B9-E509-CBD1-3FB4-53331A5532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E7227D-8DBE-3975-B792-CE9371D16E3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F08B19-B713-B844-A98D-953EBEF88FDF}" type="datetimeFigureOut">
              <a:rPr lang="en-US" smtClean="0"/>
              <a:t>1/14/26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CB6051-4208-40F9-C12C-1899F1F504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97E780-674C-D2D1-E27A-F2A4D7E7BDA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80B339-CF10-E943-ACA3-F4C8BB2F5C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6278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BD827CB8-F2AB-0A1D-9CD8-90553FB4F192}"/>
              </a:ext>
            </a:extLst>
          </p:cNvPr>
          <p:cNvSpPr txBox="1"/>
          <p:nvPr/>
        </p:nvSpPr>
        <p:spPr>
          <a:xfrm>
            <a:off x="8702566" y="690594"/>
            <a:ext cx="223870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33 = 27 from </a:t>
            </a:r>
            <a:r>
              <a:rPr lang="en-US" dirty="0" err="1"/>
              <a:t>bev</a:t>
            </a:r>
            <a:r>
              <a:rPr lang="en-US" dirty="0"/>
              <a:t>  + 5 from manual spot checks from </a:t>
            </a:r>
            <a:r>
              <a:rPr lang="en-US" dirty="0" err="1"/>
              <a:t>chad</a:t>
            </a:r>
            <a:endParaRPr lang="en-US" dirty="0"/>
          </a:p>
          <a:p>
            <a:r>
              <a:rPr lang="en-US" dirty="0"/>
              <a:t>1646 = found by the automated parser</a:t>
            </a:r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CD5942DB-2FD3-C912-0361-EAF132557B1B}"/>
              </a:ext>
            </a:extLst>
          </p:cNvPr>
          <p:cNvGrpSpPr/>
          <p:nvPr/>
        </p:nvGrpSpPr>
        <p:grpSpPr>
          <a:xfrm>
            <a:off x="616669" y="485321"/>
            <a:ext cx="7153839" cy="5474137"/>
            <a:chOff x="616669" y="485321"/>
            <a:chExt cx="7153839" cy="5474137"/>
          </a:xfrm>
        </p:grpSpPr>
        <p:cxnSp>
          <p:nvCxnSpPr>
            <p:cNvPr id="16" name="Elbow Connector 15">
              <a:extLst>
                <a:ext uri="{FF2B5EF4-FFF2-40B4-BE49-F238E27FC236}">
                  <a16:creationId xmlns:a16="http://schemas.microsoft.com/office/drawing/2014/main" id="{84B59F81-1FD5-253F-A6B0-E8AEC81CD476}"/>
                </a:ext>
              </a:extLst>
            </p:cNvPr>
            <p:cNvCxnSpPr>
              <a:cxnSpLocks/>
              <a:stCxn id="3" idx="2"/>
              <a:endCxn id="5" idx="0"/>
            </p:cNvCxnSpPr>
            <p:nvPr/>
          </p:nvCxnSpPr>
          <p:spPr>
            <a:xfrm rot="16200000" flipH="1">
              <a:off x="2362044" y="329860"/>
              <a:ext cx="558745" cy="2026212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Elbow Connector 17">
              <a:extLst>
                <a:ext uri="{FF2B5EF4-FFF2-40B4-BE49-F238E27FC236}">
                  <a16:creationId xmlns:a16="http://schemas.microsoft.com/office/drawing/2014/main" id="{09188D43-62B9-E84C-72E0-EFC73776A529}"/>
                </a:ext>
              </a:extLst>
            </p:cNvPr>
            <p:cNvCxnSpPr>
              <a:cxnSpLocks/>
              <a:stCxn id="2" idx="2"/>
              <a:endCxn id="5" idx="0"/>
            </p:cNvCxnSpPr>
            <p:nvPr/>
          </p:nvCxnSpPr>
          <p:spPr>
            <a:xfrm rot="5400000">
              <a:off x="4636213" y="81904"/>
              <a:ext cx="558745" cy="2522125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4BE63062-2A42-2FA8-EFE5-E6783575D5E2}"/>
                </a:ext>
              </a:extLst>
            </p:cNvPr>
            <p:cNvCxnSpPr>
              <a:cxnSpLocks/>
              <a:stCxn id="5" idx="2"/>
              <a:endCxn id="38" idx="0"/>
            </p:cNvCxnSpPr>
            <p:nvPr/>
          </p:nvCxnSpPr>
          <p:spPr>
            <a:xfrm flipH="1">
              <a:off x="3654519" y="2000885"/>
              <a:ext cx="3" cy="16723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017F0049-5170-DD57-A6A4-042CD27C59BE}"/>
                </a:ext>
              </a:extLst>
            </p:cNvPr>
            <p:cNvCxnSpPr>
              <a:cxnSpLocks/>
              <a:stCxn id="6" idx="2"/>
              <a:endCxn id="8" idx="0"/>
            </p:cNvCxnSpPr>
            <p:nvPr/>
          </p:nvCxnSpPr>
          <p:spPr>
            <a:xfrm>
              <a:off x="3654518" y="3180056"/>
              <a:ext cx="3" cy="18927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0AE35596-8609-8E7F-BD1E-A22FFD8B059C}"/>
                </a:ext>
              </a:extLst>
            </p:cNvPr>
            <p:cNvCxnSpPr>
              <a:cxnSpLocks/>
              <a:stCxn id="8" idx="2"/>
              <a:endCxn id="9" idx="0"/>
            </p:cNvCxnSpPr>
            <p:nvPr/>
          </p:nvCxnSpPr>
          <p:spPr>
            <a:xfrm>
              <a:off x="3654521" y="3747875"/>
              <a:ext cx="0" cy="26904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1AC5C17C-C2FD-566A-FFE2-D1DB01C0D7D0}"/>
                </a:ext>
              </a:extLst>
            </p:cNvPr>
            <p:cNvCxnSpPr>
              <a:cxnSpLocks/>
              <a:stCxn id="9" idx="2"/>
              <a:endCxn id="10" idx="0"/>
            </p:cNvCxnSpPr>
            <p:nvPr/>
          </p:nvCxnSpPr>
          <p:spPr>
            <a:xfrm flipH="1">
              <a:off x="3654519" y="4395463"/>
              <a:ext cx="2" cy="41155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9B79F8E2-8192-4343-1848-84D728B9582E}"/>
                </a:ext>
              </a:extLst>
            </p:cNvPr>
            <p:cNvCxnSpPr>
              <a:cxnSpLocks/>
              <a:stCxn id="10" idx="2"/>
              <a:endCxn id="12" idx="0"/>
            </p:cNvCxnSpPr>
            <p:nvPr/>
          </p:nvCxnSpPr>
          <p:spPr>
            <a:xfrm>
              <a:off x="3654519" y="5185564"/>
              <a:ext cx="0" cy="39534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Elbow Connector 22">
              <a:extLst>
                <a:ext uri="{FF2B5EF4-FFF2-40B4-BE49-F238E27FC236}">
                  <a16:creationId xmlns:a16="http://schemas.microsoft.com/office/drawing/2014/main" id="{ECBDB331-3C1B-6F45-82FA-C44E53ABD58A}"/>
                </a:ext>
              </a:extLst>
            </p:cNvPr>
            <p:cNvCxnSpPr>
              <a:cxnSpLocks/>
              <a:stCxn id="21" idx="2"/>
              <a:endCxn id="5" idx="0"/>
            </p:cNvCxnSpPr>
            <p:nvPr/>
          </p:nvCxnSpPr>
          <p:spPr>
            <a:xfrm rot="5400000">
              <a:off x="3412864" y="1307930"/>
              <a:ext cx="556068" cy="72751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648DA8C8-9A28-F5FA-7B95-CE898384FA82}"/>
                </a:ext>
              </a:extLst>
            </p:cNvPr>
            <p:cNvGrpSpPr/>
            <p:nvPr/>
          </p:nvGrpSpPr>
          <p:grpSpPr>
            <a:xfrm>
              <a:off x="616669" y="485321"/>
              <a:ext cx="7153839" cy="5474137"/>
              <a:chOff x="448717" y="690593"/>
              <a:chExt cx="7153839" cy="5474137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6F60FA40-DC3B-A313-9CB0-1DDCE908B259}"/>
                  </a:ext>
                </a:extLst>
              </p:cNvPr>
              <p:cNvSpPr/>
              <p:nvPr/>
            </p:nvSpPr>
            <p:spPr>
              <a:xfrm>
                <a:off x="2547680" y="693270"/>
                <a:ext cx="2023281" cy="578273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N state MVP = 22</a:t>
                </a:r>
              </a:p>
            </p:txBody>
          </p:sp>
          <p:grpSp>
            <p:nvGrpSpPr>
              <p:cNvPr id="39" name="Group 38">
                <a:extLst>
                  <a:ext uri="{FF2B5EF4-FFF2-40B4-BE49-F238E27FC236}">
                    <a16:creationId xmlns:a16="http://schemas.microsoft.com/office/drawing/2014/main" id="{32E57668-AB90-ED32-217D-5BC98E209B96}"/>
                  </a:ext>
                </a:extLst>
              </p:cNvPr>
              <p:cNvGrpSpPr/>
              <p:nvPr/>
            </p:nvGrpSpPr>
            <p:grpSpPr>
              <a:xfrm>
                <a:off x="448717" y="690593"/>
                <a:ext cx="7153839" cy="5474137"/>
                <a:chOff x="430056" y="693951"/>
                <a:chExt cx="7153839" cy="5474137"/>
              </a:xfrm>
            </p:grpSpPr>
            <p:grpSp>
              <p:nvGrpSpPr>
                <p:cNvPr id="4" name="Group 3">
                  <a:extLst>
                    <a:ext uri="{FF2B5EF4-FFF2-40B4-BE49-F238E27FC236}">
                      <a16:creationId xmlns:a16="http://schemas.microsoft.com/office/drawing/2014/main" id="{ED5F9E67-53C3-1B1A-1C13-1354B9A970F1}"/>
                    </a:ext>
                  </a:extLst>
                </p:cNvPr>
                <p:cNvGrpSpPr/>
                <p:nvPr/>
              </p:nvGrpSpPr>
              <p:grpSpPr>
                <a:xfrm>
                  <a:off x="430056" y="693951"/>
                  <a:ext cx="7153839" cy="5474137"/>
                  <a:chOff x="374072" y="690594"/>
                  <a:chExt cx="7153839" cy="5474137"/>
                </a:xfrm>
              </p:grpSpPr>
              <p:grpSp>
                <p:nvGrpSpPr>
                  <p:cNvPr id="15" name="Group 14">
                    <a:extLst>
                      <a:ext uri="{FF2B5EF4-FFF2-40B4-BE49-F238E27FC236}">
                        <a16:creationId xmlns:a16="http://schemas.microsoft.com/office/drawing/2014/main" id="{BD3241F5-733F-6261-8FA3-71FAC1B61CFC}"/>
                      </a:ext>
                    </a:extLst>
                  </p:cNvPr>
                  <p:cNvGrpSpPr/>
                  <p:nvPr/>
                </p:nvGrpSpPr>
                <p:grpSpPr>
                  <a:xfrm>
                    <a:off x="1705950" y="690594"/>
                    <a:ext cx="5821961" cy="5474137"/>
                    <a:chOff x="1528545" y="167094"/>
                    <a:chExt cx="5821961" cy="5474137"/>
                  </a:xfrm>
                </p:grpSpPr>
                <p:sp>
                  <p:nvSpPr>
                    <p:cNvPr id="2" name="Rectangle 1">
                      <a:extLst>
                        <a:ext uri="{FF2B5EF4-FFF2-40B4-BE49-F238E27FC236}">
                          <a16:creationId xmlns:a16="http://schemas.microsoft.com/office/drawing/2014/main" id="{CE1297A3-588A-D78F-BDA5-17F30EABD5C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546702" y="167094"/>
                      <a:ext cx="2419885" cy="578273"/>
                    </a:xfrm>
                    <a:prstGeom prst="rect">
                      <a:avLst/>
                    </a:pr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N automated = 1,250</a:t>
                      </a:r>
                    </a:p>
                  </p:txBody>
                </p:sp>
                <p:sp>
                  <p:nvSpPr>
                    <p:cNvPr id="5" name="Rectangle 4">
                      <a:extLst>
                        <a:ext uri="{FF2B5EF4-FFF2-40B4-BE49-F238E27FC236}">
                          <a16:creationId xmlns:a16="http://schemas.microsoft.com/office/drawing/2014/main" id="{F9ED10F8-4A02-A8D0-2B74-1011BD57BDE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28549" y="1304112"/>
                      <a:ext cx="3411941" cy="378546"/>
                    </a:xfrm>
                    <a:prstGeom prst="rect">
                      <a:avLst/>
                    </a:pr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N total = 1,294</a:t>
                      </a:r>
                    </a:p>
                  </p:txBody>
                </p:sp>
                <p:sp>
                  <p:nvSpPr>
                    <p:cNvPr id="6" name="Rectangle 5">
                      <a:extLst>
                        <a:ext uri="{FF2B5EF4-FFF2-40B4-BE49-F238E27FC236}">
                          <a16:creationId xmlns:a16="http://schemas.microsoft.com/office/drawing/2014/main" id="{B24726C6-BE83-CB8B-6DE3-66F41263158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28545" y="2483283"/>
                      <a:ext cx="3411942" cy="378546"/>
                    </a:xfrm>
                    <a:prstGeom prst="rect">
                      <a:avLst/>
                    </a:pr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N in Massachusetts = 444 </a:t>
                      </a:r>
                    </a:p>
                  </p:txBody>
                </p:sp>
                <p:sp>
                  <p:nvSpPr>
                    <p:cNvPr id="7" name="TextBox 6">
                      <a:extLst>
                        <a:ext uri="{FF2B5EF4-FFF2-40B4-BE49-F238E27FC236}">
                          <a16:creationId xmlns:a16="http://schemas.microsoft.com/office/drawing/2014/main" id="{A9FEE83D-5072-915B-E9E8-AAE3E817B9E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315522" y="1942165"/>
                      <a:ext cx="1884556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dirty="0"/>
                        <a:t> </a:t>
                      </a:r>
                    </a:p>
                  </p:txBody>
                </p:sp>
                <p:sp>
                  <p:nvSpPr>
                    <p:cNvPr id="8" name="Rectangle 7">
                      <a:extLst>
                        <a:ext uri="{FF2B5EF4-FFF2-40B4-BE49-F238E27FC236}">
                          <a16:creationId xmlns:a16="http://schemas.microsoft.com/office/drawing/2014/main" id="{16D982B3-E803-8629-732D-758F5C72B95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28549" y="3051102"/>
                      <a:ext cx="3411940" cy="378546"/>
                    </a:xfrm>
                    <a:prstGeom prst="rect">
                      <a:avLst/>
                    </a:pr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N in Boston Inner Core = 316 </a:t>
                      </a:r>
                    </a:p>
                  </p:txBody>
                </p:sp>
                <p:sp>
                  <p:nvSpPr>
                    <p:cNvPr id="9" name="Rectangle 8">
                      <a:extLst>
                        <a:ext uri="{FF2B5EF4-FFF2-40B4-BE49-F238E27FC236}">
                          <a16:creationId xmlns:a16="http://schemas.microsoft.com/office/drawing/2014/main" id="{FBD9E85D-B692-3145-19B8-7107819692F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28549" y="3698690"/>
                      <a:ext cx="3411940" cy="378546"/>
                    </a:xfrm>
                    <a:prstGeom prst="rect">
                      <a:avLst/>
                    </a:pr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N has “climate” in text = 278</a:t>
                      </a:r>
                    </a:p>
                  </p:txBody>
                </p:sp>
                <p:sp>
                  <p:nvSpPr>
                    <p:cNvPr id="10" name="Rectangle 9">
                      <a:extLst>
                        <a:ext uri="{FF2B5EF4-FFF2-40B4-BE49-F238E27FC236}">
                          <a16:creationId xmlns:a16="http://schemas.microsoft.com/office/drawing/2014/main" id="{AEC0370F-3B6E-29FE-D9D1-18A84FD5A4B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28547" y="4488791"/>
                      <a:ext cx="3411940" cy="378546"/>
                    </a:xfrm>
                    <a:prstGeom prst="rect">
                      <a:avLst/>
                    </a:pr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N has “community” in text = 269 </a:t>
                      </a:r>
                    </a:p>
                  </p:txBody>
                </p:sp>
                <p:sp>
                  <p:nvSpPr>
                    <p:cNvPr id="12" name="Rectangle 11">
                      <a:extLst>
                        <a:ext uri="{FF2B5EF4-FFF2-40B4-BE49-F238E27FC236}">
                          <a16:creationId xmlns:a16="http://schemas.microsoft.com/office/drawing/2014/main" id="{75D3E5D0-8962-4908-012F-CED05A44B29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28547" y="5262685"/>
                      <a:ext cx="3411940" cy="378546"/>
                    </a:xfrm>
                    <a:prstGeom prst="rect">
                      <a:avLst/>
                    </a:pr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N pass manual checks = 114</a:t>
                      </a:r>
                    </a:p>
                  </p:txBody>
                </p:sp>
                <p:sp>
                  <p:nvSpPr>
                    <p:cNvPr id="13" name="Right Brace 12">
                      <a:extLst>
                        <a:ext uri="{FF2B5EF4-FFF2-40B4-BE49-F238E27FC236}">
                          <a16:creationId xmlns:a16="http://schemas.microsoft.com/office/drawing/2014/main" id="{60FA181B-7222-D8E2-DC73-512E60CA084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139664" y="1942165"/>
                      <a:ext cx="246292" cy="3095379"/>
                    </a:xfrm>
                    <a:prstGeom prst="rightBrace">
                      <a:avLst/>
                    </a:prstGeom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4" name="TextBox 13">
                      <a:extLst>
                        <a:ext uri="{FF2B5EF4-FFF2-40B4-BE49-F238E27FC236}">
                          <a16:creationId xmlns:a16="http://schemas.microsoft.com/office/drawing/2014/main" id="{92E38310-6741-5A47-855D-C623BBD9752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508059" y="3051102"/>
                      <a:ext cx="1842447" cy="92333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i="1" dirty="0"/>
                        <a:t>Checked with automated text parsing</a:t>
                      </a:r>
                    </a:p>
                  </p:txBody>
                </p:sp>
              </p:grpSp>
              <p:sp>
                <p:nvSpPr>
                  <p:cNvPr id="3" name="Rectangle 2">
                    <a:extLst>
                      <a:ext uri="{FF2B5EF4-FFF2-40B4-BE49-F238E27FC236}">
                        <a16:creationId xmlns:a16="http://schemas.microsoft.com/office/drawing/2014/main" id="{1790A42F-05FF-2657-02DD-486A5A6C8E7C}"/>
                      </a:ext>
                    </a:extLst>
                  </p:cNvPr>
                  <p:cNvSpPr/>
                  <p:nvPr/>
                </p:nvSpPr>
                <p:spPr>
                  <a:xfrm>
                    <a:off x="374072" y="690594"/>
                    <a:ext cx="2023281" cy="578273"/>
                  </a:xfrm>
                  <a:prstGeom prst="rect">
                    <a:avLst/>
                  </a:pr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>
                        <a:solidFill>
                          <a:schemeClr val="tx1"/>
                        </a:solidFill>
                      </a:rPr>
                      <a:t>N manual = 22</a:t>
                    </a:r>
                  </a:p>
                </p:txBody>
              </p:sp>
            </p:grpSp>
            <p:sp>
              <p:nvSpPr>
                <p:cNvPr id="38" name="Rectangle 37">
                  <a:extLst>
                    <a:ext uri="{FF2B5EF4-FFF2-40B4-BE49-F238E27FC236}">
                      <a16:creationId xmlns:a16="http://schemas.microsoft.com/office/drawing/2014/main" id="{2FE4E043-7575-3A76-7567-0D63403242B6}"/>
                    </a:ext>
                  </a:extLst>
                </p:cNvPr>
                <p:cNvSpPr/>
                <p:nvPr/>
              </p:nvSpPr>
              <p:spPr>
                <a:xfrm>
                  <a:off x="1761935" y="2376745"/>
                  <a:ext cx="3411941" cy="378546"/>
                </a:xfrm>
                <a:prstGeom prst="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N not duplicated = 955</a:t>
                  </a:r>
                </a:p>
              </p:txBody>
            </p:sp>
          </p:grpSp>
        </p:grp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D84BE7C9-9D2E-ADDE-400E-807E0C0AD751}"/>
                </a:ext>
              </a:extLst>
            </p:cNvPr>
            <p:cNvCxnSpPr>
              <a:cxnSpLocks/>
              <a:stCxn id="38" idx="2"/>
              <a:endCxn id="6" idx="0"/>
            </p:cNvCxnSpPr>
            <p:nvPr/>
          </p:nvCxnSpPr>
          <p:spPr>
            <a:xfrm flipH="1">
              <a:off x="3654518" y="2546661"/>
              <a:ext cx="1" cy="25484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010030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8E1FE5-9A46-C541-410E-1E9376C74E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4520E841-4780-A77F-364B-BC058ECFA5BB}"/>
              </a:ext>
            </a:extLst>
          </p:cNvPr>
          <p:cNvSpPr txBox="1"/>
          <p:nvPr/>
        </p:nvSpPr>
        <p:spPr>
          <a:xfrm>
            <a:off x="8702566" y="690594"/>
            <a:ext cx="223870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33 = 27 from </a:t>
            </a:r>
            <a:r>
              <a:rPr lang="en-US" dirty="0" err="1"/>
              <a:t>bev</a:t>
            </a:r>
            <a:r>
              <a:rPr lang="en-US" dirty="0"/>
              <a:t>  + 5 from manual spot checks from </a:t>
            </a:r>
            <a:r>
              <a:rPr lang="en-US" dirty="0" err="1"/>
              <a:t>chad</a:t>
            </a:r>
            <a:endParaRPr lang="en-US" dirty="0"/>
          </a:p>
          <a:p>
            <a:r>
              <a:rPr lang="en-US" dirty="0"/>
              <a:t>1646 = found by the automated parser</a:t>
            </a:r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593F1DA6-2F43-F8FA-479E-3DBCDF33196A}"/>
              </a:ext>
            </a:extLst>
          </p:cNvPr>
          <p:cNvGrpSpPr/>
          <p:nvPr/>
        </p:nvGrpSpPr>
        <p:grpSpPr>
          <a:xfrm>
            <a:off x="873844" y="885371"/>
            <a:ext cx="7154105" cy="4826549"/>
            <a:chOff x="616669" y="485321"/>
            <a:chExt cx="7154105" cy="4826549"/>
          </a:xfrm>
        </p:grpSpPr>
        <p:cxnSp>
          <p:nvCxnSpPr>
            <p:cNvPr id="16" name="Elbow Connector 15">
              <a:extLst>
                <a:ext uri="{FF2B5EF4-FFF2-40B4-BE49-F238E27FC236}">
                  <a16:creationId xmlns:a16="http://schemas.microsoft.com/office/drawing/2014/main" id="{0873C9F1-6DD7-014E-4F5B-3FC3E3A0B4A3}"/>
                </a:ext>
              </a:extLst>
            </p:cNvPr>
            <p:cNvCxnSpPr>
              <a:cxnSpLocks/>
              <a:stCxn id="3" idx="2"/>
              <a:endCxn id="5" idx="0"/>
            </p:cNvCxnSpPr>
            <p:nvPr/>
          </p:nvCxnSpPr>
          <p:spPr>
            <a:xfrm rot="16200000" flipH="1">
              <a:off x="2362044" y="329860"/>
              <a:ext cx="558745" cy="2026212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Elbow Connector 17">
              <a:extLst>
                <a:ext uri="{FF2B5EF4-FFF2-40B4-BE49-F238E27FC236}">
                  <a16:creationId xmlns:a16="http://schemas.microsoft.com/office/drawing/2014/main" id="{F28A2F2C-503D-81D8-4A5E-3BC269840EB6}"/>
                </a:ext>
              </a:extLst>
            </p:cNvPr>
            <p:cNvCxnSpPr>
              <a:cxnSpLocks/>
              <a:stCxn id="2" idx="2"/>
              <a:endCxn id="5" idx="0"/>
            </p:cNvCxnSpPr>
            <p:nvPr/>
          </p:nvCxnSpPr>
          <p:spPr>
            <a:xfrm rot="5400000">
              <a:off x="4636213" y="81904"/>
              <a:ext cx="558745" cy="2522125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B0C94C9B-B450-D67C-C545-804DE13BF9CC}"/>
                </a:ext>
              </a:extLst>
            </p:cNvPr>
            <p:cNvCxnSpPr>
              <a:cxnSpLocks/>
              <a:stCxn id="5" idx="2"/>
              <a:endCxn id="38" idx="0"/>
            </p:cNvCxnSpPr>
            <p:nvPr/>
          </p:nvCxnSpPr>
          <p:spPr>
            <a:xfrm flipH="1">
              <a:off x="3654519" y="2000885"/>
              <a:ext cx="3" cy="16723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26D9CE49-9A0F-320D-4ACC-8D832FF7BA42}"/>
                </a:ext>
              </a:extLst>
            </p:cNvPr>
            <p:cNvCxnSpPr>
              <a:cxnSpLocks/>
              <a:stCxn id="6" idx="2"/>
            </p:cNvCxnSpPr>
            <p:nvPr/>
          </p:nvCxnSpPr>
          <p:spPr>
            <a:xfrm>
              <a:off x="3654518" y="3180056"/>
              <a:ext cx="3" cy="18927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93D79F92-194E-A01A-4BEF-358841B81BCF}"/>
                </a:ext>
              </a:extLst>
            </p:cNvPr>
            <p:cNvCxnSpPr>
              <a:cxnSpLocks/>
              <a:stCxn id="9" idx="2"/>
              <a:endCxn id="10" idx="0"/>
            </p:cNvCxnSpPr>
            <p:nvPr/>
          </p:nvCxnSpPr>
          <p:spPr>
            <a:xfrm flipH="1">
              <a:off x="3654515" y="3747875"/>
              <a:ext cx="2" cy="41155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08AC4027-3860-1240-7A22-7C58556CCD99}"/>
                </a:ext>
              </a:extLst>
            </p:cNvPr>
            <p:cNvCxnSpPr>
              <a:cxnSpLocks/>
              <a:stCxn id="10" idx="2"/>
              <a:endCxn id="12" idx="0"/>
            </p:cNvCxnSpPr>
            <p:nvPr/>
          </p:nvCxnSpPr>
          <p:spPr>
            <a:xfrm>
              <a:off x="3654515" y="4537976"/>
              <a:ext cx="0" cy="39534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Elbow Connector 22">
              <a:extLst>
                <a:ext uri="{FF2B5EF4-FFF2-40B4-BE49-F238E27FC236}">
                  <a16:creationId xmlns:a16="http://schemas.microsoft.com/office/drawing/2014/main" id="{C054C64B-073D-586A-D2BE-B175C342318C}"/>
                </a:ext>
              </a:extLst>
            </p:cNvPr>
            <p:cNvCxnSpPr>
              <a:cxnSpLocks/>
              <a:stCxn id="21" idx="2"/>
              <a:endCxn id="5" idx="0"/>
            </p:cNvCxnSpPr>
            <p:nvPr/>
          </p:nvCxnSpPr>
          <p:spPr>
            <a:xfrm rot="5400000">
              <a:off x="3412864" y="1307930"/>
              <a:ext cx="556068" cy="72751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8E0B51DA-80AB-59CD-3B6F-42353C6DB794}"/>
                </a:ext>
              </a:extLst>
            </p:cNvPr>
            <p:cNvGrpSpPr/>
            <p:nvPr/>
          </p:nvGrpSpPr>
          <p:grpSpPr>
            <a:xfrm>
              <a:off x="616669" y="485321"/>
              <a:ext cx="7154105" cy="4826549"/>
              <a:chOff x="448717" y="690593"/>
              <a:chExt cx="7154105" cy="4826549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B3E905FD-0F38-8B20-FE82-0EEBC3ABED34}"/>
                  </a:ext>
                </a:extLst>
              </p:cNvPr>
              <p:cNvSpPr/>
              <p:nvPr/>
            </p:nvSpPr>
            <p:spPr>
              <a:xfrm>
                <a:off x="2547680" y="693270"/>
                <a:ext cx="2023281" cy="578273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N state MVP = 21</a:t>
                </a:r>
              </a:p>
            </p:txBody>
          </p:sp>
          <p:grpSp>
            <p:nvGrpSpPr>
              <p:cNvPr id="39" name="Group 38">
                <a:extLst>
                  <a:ext uri="{FF2B5EF4-FFF2-40B4-BE49-F238E27FC236}">
                    <a16:creationId xmlns:a16="http://schemas.microsoft.com/office/drawing/2014/main" id="{D695D86F-AD2A-6322-6928-5069632353C0}"/>
                  </a:ext>
                </a:extLst>
              </p:cNvPr>
              <p:cNvGrpSpPr/>
              <p:nvPr/>
            </p:nvGrpSpPr>
            <p:grpSpPr>
              <a:xfrm>
                <a:off x="448717" y="690593"/>
                <a:ext cx="7154105" cy="4826549"/>
                <a:chOff x="430056" y="693951"/>
                <a:chExt cx="7154105" cy="4826549"/>
              </a:xfrm>
            </p:grpSpPr>
            <p:grpSp>
              <p:nvGrpSpPr>
                <p:cNvPr id="4" name="Group 3">
                  <a:extLst>
                    <a:ext uri="{FF2B5EF4-FFF2-40B4-BE49-F238E27FC236}">
                      <a16:creationId xmlns:a16="http://schemas.microsoft.com/office/drawing/2014/main" id="{F62E26AB-3670-F47B-44A1-2BC3DF320792}"/>
                    </a:ext>
                  </a:extLst>
                </p:cNvPr>
                <p:cNvGrpSpPr/>
                <p:nvPr/>
              </p:nvGrpSpPr>
              <p:grpSpPr>
                <a:xfrm>
                  <a:off x="430056" y="693951"/>
                  <a:ext cx="7154105" cy="4826549"/>
                  <a:chOff x="374072" y="690594"/>
                  <a:chExt cx="7154105" cy="4826549"/>
                </a:xfrm>
              </p:grpSpPr>
              <p:grpSp>
                <p:nvGrpSpPr>
                  <p:cNvPr id="15" name="Group 14">
                    <a:extLst>
                      <a:ext uri="{FF2B5EF4-FFF2-40B4-BE49-F238E27FC236}">
                        <a16:creationId xmlns:a16="http://schemas.microsoft.com/office/drawing/2014/main" id="{ED914B57-C3D1-437D-1697-4FF1DD2C3F21}"/>
                      </a:ext>
                    </a:extLst>
                  </p:cNvPr>
                  <p:cNvGrpSpPr/>
                  <p:nvPr/>
                </p:nvGrpSpPr>
                <p:grpSpPr>
                  <a:xfrm>
                    <a:off x="1705948" y="690594"/>
                    <a:ext cx="5822229" cy="4826549"/>
                    <a:chOff x="1528543" y="167094"/>
                    <a:chExt cx="5822229" cy="4826549"/>
                  </a:xfrm>
                </p:grpSpPr>
                <p:sp>
                  <p:nvSpPr>
                    <p:cNvPr id="2" name="Rectangle 1">
                      <a:extLst>
                        <a:ext uri="{FF2B5EF4-FFF2-40B4-BE49-F238E27FC236}">
                          <a16:creationId xmlns:a16="http://schemas.microsoft.com/office/drawing/2014/main" id="{210BB6F0-DFA5-AD84-1E5F-F2F0370FAB1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546702" y="167094"/>
                      <a:ext cx="2419885" cy="578273"/>
                    </a:xfrm>
                    <a:prstGeom prst="rect">
                      <a:avLst/>
                    </a:pr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N automated = 709</a:t>
                      </a:r>
                    </a:p>
                  </p:txBody>
                </p:sp>
                <p:sp>
                  <p:nvSpPr>
                    <p:cNvPr id="5" name="Rectangle 4">
                      <a:extLst>
                        <a:ext uri="{FF2B5EF4-FFF2-40B4-BE49-F238E27FC236}">
                          <a16:creationId xmlns:a16="http://schemas.microsoft.com/office/drawing/2014/main" id="{079ABC57-41AF-4718-568B-73081844CAD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28549" y="1304112"/>
                      <a:ext cx="3411941" cy="378546"/>
                    </a:xfrm>
                    <a:prstGeom prst="rect">
                      <a:avLst/>
                    </a:pr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N total = 751</a:t>
                      </a:r>
                    </a:p>
                  </p:txBody>
                </p:sp>
                <p:sp>
                  <p:nvSpPr>
                    <p:cNvPr id="6" name="Rectangle 5">
                      <a:extLst>
                        <a:ext uri="{FF2B5EF4-FFF2-40B4-BE49-F238E27FC236}">
                          <a16:creationId xmlns:a16="http://schemas.microsoft.com/office/drawing/2014/main" id="{B947C81B-B629-60F6-0E19-0AACA89A82C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28545" y="2483283"/>
                      <a:ext cx="3411942" cy="378546"/>
                    </a:xfrm>
                    <a:prstGeom prst="rect">
                      <a:avLst/>
                    </a:pr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N in Massachusetts = 356 </a:t>
                      </a:r>
                    </a:p>
                  </p:txBody>
                </p:sp>
                <p:sp>
                  <p:nvSpPr>
                    <p:cNvPr id="7" name="TextBox 6">
                      <a:extLst>
                        <a:ext uri="{FF2B5EF4-FFF2-40B4-BE49-F238E27FC236}">
                          <a16:creationId xmlns:a16="http://schemas.microsoft.com/office/drawing/2014/main" id="{28D33E20-48B9-C012-1C1A-9420BF62EFE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315522" y="1942165"/>
                      <a:ext cx="1884556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dirty="0"/>
                        <a:t> </a:t>
                      </a:r>
                    </a:p>
                  </p:txBody>
                </p:sp>
                <p:sp>
                  <p:nvSpPr>
                    <p:cNvPr id="9" name="Rectangle 8">
                      <a:extLst>
                        <a:ext uri="{FF2B5EF4-FFF2-40B4-BE49-F238E27FC236}">
                          <a16:creationId xmlns:a16="http://schemas.microsoft.com/office/drawing/2014/main" id="{2A41BB5E-2C22-2123-EAD8-5EAD334EF07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28545" y="3051102"/>
                      <a:ext cx="3411940" cy="378546"/>
                    </a:xfrm>
                    <a:prstGeom prst="rect">
                      <a:avLst/>
                    </a:pr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N has “climate” in text = 315</a:t>
                      </a:r>
                    </a:p>
                  </p:txBody>
                </p:sp>
                <p:sp>
                  <p:nvSpPr>
                    <p:cNvPr id="10" name="Rectangle 9">
                      <a:extLst>
                        <a:ext uri="{FF2B5EF4-FFF2-40B4-BE49-F238E27FC236}">
                          <a16:creationId xmlns:a16="http://schemas.microsoft.com/office/drawing/2014/main" id="{895783EC-AC8C-54C5-B0B8-F13CDE0F6CD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28543" y="3841203"/>
                      <a:ext cx="3411940" cy="378546"/>
                    </a:xfrm>
                    <a:prstGeom prst="rect">
                      <a:avLst/>
                    </a:pr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N has “community” in text = 304 </a:t>
                      </a:r>
                    </a:p>
                  </p:txBody>
                </p:sp>
                <p:sp>
                  <p:nvSpPr>
                    <p:cNvPr id="12" name="Rectangle 11">
                      <a:extLst>
                        <a:ext uri="{FF2B5EF4-FFF2-40B4-BE49-F238E27FC236}">
                          <a16:creationId xmlns:a16="http://schemas.microsoft.com/office/drawing/2014/main" id="{9173F201-9790-8D95-343B-46F2846EB4A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28543" y="4615097"/>
                      <a:ext cx="3411940" cy="378546"/>
                    </a:xfrm>
                    <a:prstGeom prst="rect">
                      <a:avLst/>
                    </a:pr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N pass manual checks = 123</a:t>
                      </a:r>
                    </a:p>
                  </p:txBody>
                </p:sp>
                <p:sp>
                  <p:nvSpPr>
                    <p:cNvPr id="13" name="Right Brace 12">
                      <a:extLst>
                        <a:ext uri="{FF2B5EF4-FFF2-40B4-BE49-F238E27FC236}">
                          <a16:creationId xmlns:a16="http://schemas.microsoft.com/office/drawing/2014/main" id="{24AB6D88-6A23-A585-A7C8-42DBAC5C7C2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139664" y="1942166"/>
                      <a:ext cx="169484" cy="2277584"/>
                    </a:xfrm>
                    <a:prstGeom prst="rightBrace">
                      <a:avLst/>
                    </a:prstGeom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4" name="TextBox 13">
                      <a:extLst>
                        <a:ext uri="{FF2B5EF4-FFF2-40B4-BE49-F238E27FC236}">
                          <a16:creationId xmlns:a16="http://schemas.microsoft.com/office/drawing/2014/main" id="{9198269F-BF6D-B91D-5130-5BEEFFFADF8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508325" y="2649108"/>
                      <a:ext cx="1842447" cy="92333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i="1" dirty="0"/>
                        <a:t>Checked with automated text parsing</a:t>
                      </a:r>
                    </a:p>
                  </p:txBody>
                </p:sp>
              </p:grpSp>
              <p:sp>
                <p:nvSpPr>
                  <p:cNvPr id="3" name="Rectangle 2">
                    <a:extLst>
                      <a:ext uri="{FF2B5EF4-FFF2-40B4-BE49-F238E27FC236}">
                        <a16:creationId xmlns:a16="http://schemas.microsoft.com/office/drawing/2014/main" id="{D73B396F-FA0D-F7A6-5731-C02B3348E671}"/>
                      </a:ext>
                    </a:extLst>
                  </p:cNvPr>
                  <p:cNvSpPr/>
                  <p:nvPr/>
                </p:nvSpPr>
                <p:spPr>
                  <a:xfrm>
                    <a:off x="374072" y="690594"/>
                    <a:ext cx="2023281" cy="578273"/>
                  </a:xfrm>
                  <a:prstGeom prst="rect">
                    <a:avLst/>
                  </a:pr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>
                        <a:solidFill>
                          <a:schemeClr val="tx1"/>
                        </a:solidFill>
                      </a:rPr>
                      <a:t>N manual = 21</a:t>
                    </a:r>
                  </a:p>
                </p:txBody>
              </p:sp>
            </p:grpSp>
            <p:sp>
              <p:nvSpPr>
                <p:cNvPr id="38" name="Rectangle 37">
                  <a:extLst>
                    <a:ext uri="{FF2B5EF4-FFF2-40B4-BE49-F238E27FC236}">
                      <a16:creationId xmlns:a16="http://schemas.microsoft.com/office/drawing/2014/main" id="{861B00D1-C6F8-3832-9B42-8BC272080973}"/>
                    </a:ext>
                  </a:extLst>
                </p:cNvPr>
                <p:cNvSpPr/>
                <p:nvPr/>
              </p:nvSpPr>
              <p:spPr>
                <a:xfrm>
                  <a:off x="1761935" y="2376745"/>
                  <a:ext cx="3411941" cy="378546"/>
                </a:xfrm>
                <a:prstGeom prst="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N not duplicated = 515</a:t>
                  </a:r>
                </a:p>
              </p:txBody>
            </p:sp>
          </p:grpSp>
        </p:grp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9D6D9FBE-23B8-794A-5CF0-6FECFD27B99C}"/>
                </a:ext>
              </a:extLst>
            </p:cNvPr>
            <p:cNvCxnSpPr>
              <a:cxnSpLocks/>
              <a:stCxn id="38" idx="2"/>
              <a:endCxn id="6" idx="0"/>
            </p:cNvCxnSpPr>
            <p:nvPr/>
          </p:nvCxnSpPr>
          <p:spPr>
            <a:xfrm flipH="1">
              <a:off x="3654518" y="2546661"/>
              <a:ext cx="1" cy="25484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983249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444</TotalTime>
  <Words>161</Words>
  <Application>Microsoft Macintosh PowerPoint</Application>
  <PresentationFormat>Widescreen</PresentationFormat>
  <Paragraphs>27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Milando, Chad</dc:creator>
  <cp:lastModifiedBy>Milando, Chad</cp:lastModifiedBy>
  <cp:revision>13</cp:revision>
  <dcterms:created xsi:type="dcterms:W3CDTF">2024-10-31T19:50:41Z</dcterms:created>
  <dcterms:modified xsi:type="dcterms:W3CDTF">2026-01-14T19:33:58Z</dcterms:modified>
</cp:coreProperties>
</file>